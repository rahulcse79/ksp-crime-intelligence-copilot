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solidFill>
                  <a:srgbClr val="1E2761"/>
                </a:solidFill>
                <a:latin typeface="Calibri"/>
              </a:rPr>
              <a:t>Team Details</a:t>
            </a:r>
            <a:endParaRPr b="1" sz="1500"/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2F6FE0"/>
                </a:solidFill>
                <a:latin typeface="Calibri"/>
              </a:rPr>
              <a:t>Team name:  </a:t>
            </a:r>
            <a:r>
              <a:rPr sz="1300">
                <a:solidFill>
                  <a:srgbClr val="262F40"/>
                </a:solidFill>
                <a:latin typeface="Calibri"/>
              </a:rPr>
              <a:t>Agentic_masters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2F6FE0"/>
                </a:solidFill>
                <a:latin typeface="Calibri"/>
              </a:rPr>
              <a:t>Team leader name:  </a:t>
            </a:r>
            <a:r>
              <a:rPr sz="1300">
                <a:solidFill>
                  <a:srgbClr val="262F40"/>
                </a:solidFill>
                <a:latin typeface="Calibri"/>
              </a:rPr>
              <a:t>Gokul D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2F6FE0"/>
                </a:solidFill>
                <a:latin typeface="Calibri"/>
              </a:rPr>
              <a:t>Team size:  </a:t>
            </a:r>
            <a:r>
              <a:rPr sz="1300">
                <a:solidFill>
                  <a:srgbClr val="262F40"/>
                </a:solidFill>
                <a:latin typeface="Calibri"/>
              </a:rPr>
              <a:t>5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2F6FE0"/>
                </a:solidFill>
                <a:latin typeface="Calibri"/>
              </a:rPr>
              <a:t>Problem Statement:  </a:t>
            </a:r>
            <a:r>
              <a:rPr sz="1300">
                <a:solidFill>
                  <a:srgbClr val="262F40"/>
                </a:solidFill>
                <a:latin typeface="Calibri"/>
              </a:rPr>
              <a:t>Challenge 01 — Intelligent Conversational AI for the KSP Crime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Brief about the solution</a:t>
            </a:r>
            <a:endParaRPr b="1" sz="1600"/>
          </a:p>
        </p:txBody>
      </p:sp>
      <p:sp>
        <p:nvSpPr>
          <p:cNvPr id="61" name="TextBox 60"/>
          <p:cNvSpPr txBox="1"/>
          <p:nvPr/>
        </p:nvSpPr>
        <p:spPr>
          <a:xfrm>
            <a:off x="457200" y="1572768"/>
            <a:ext cx="8229600" cy="3200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2F40"/>
                </a:solidFill>
                <a:latin typeface="Calibri"/>
              </a:rPr>
              <a:t>An agentic Investigation Copilot for the Karnataka State Police. One natural-language question — by text or voice, in English or ಕನ್ನಡ — runs a complete investigation: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Conversational case retrieval (FIRs, accused, victims, locations, status, history)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Criminal-network graph + financial money-trail with mule-account detection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Crime hotspot map + recency-weighted next-hotspot forecast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Explainable risk scoring &amp; offender profiling — with the reasons shown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Sociological insights, similar-case search &amp; investigator decision support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Auto-generated, fully cited PDF investigation report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1E2761"/>
                </a:solidFill>
                <a:latin typeface="Calibri"/>
              </a:rPr>
              <a:t>Every answer is grounded in records with case-ID citations — zero hallucination. A browser prototype today, packaged for Catalyst-native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 b="1">
                <a:solidFill>
                  <a:srgbClr val="1E2761"/>
                </a:solidFill>
                <a:latin typeface="Calibri"/>
              </a:rPr>
              <a:t>Opportunities</a:t>
            </a:r>
            <a:endParaRPr b="1" sz="1600">
              <a:solidFill>
                <a:srgbClr val="000000"/>
              </a:solidFill>
            </a:endParaRP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F6FE0"/>
                </a:solidFill>
                <a:latin typeface="Calibri"/>
              </a:rPr>
              <a:t>How different from existing ideas?  </a:t>
            </a:r>
            <a:r>
              <a:rPr sz="1250">
                <a:solidFill>
                  <a:srgbClr val="262F40"/>
                </a:solidFill>
                <a:latin typeface="Calibr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Not a chatbot or static dashboard — an autonomous agent that fuses conversation + graph + geospatial + financial + sociological analysis, and cites every fact (most LLM tools hallucinate).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F6FE0"/>
                </a:solidFill>
                <a:latin typeface="Calibri"/>
              </a:rPr>
              <a:t>How will it solve the problem?  </a:t>
            </a:r>
            <a:r>
              <a:rPr sz="1250">
                <a:solidFill>
                  <a:srgbClr val="262F40"/>
                </a:solidFill>
                <a:latin typeface="Calibr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Collapses hours of manual case-stitching (search → link → map → report) into one query for investigators, analysts and policymakers.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F6FE0"/>
                </a:solidFill>
                <a:latin typeface="Calibri"/>
              </a:rPr>
              <a:t>USP of the proposed solution  </a:t>
            </a:r>
            <a:r>
              <a:rPr sz="1250">
                <a:solidFill>
                  <a:srgbClr val="262F40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Zero-hallucination grounded answers · one-question autonomous investigation · explainable AI · bilingual + voice · Catalyst-native + role-governed.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of features offered by the solution</a:t>
            </a:r>
            <a:endParaRPr b="1" sz="1800"/>
          </a:p>
        </p:txBody>
      </p:sp>
      <p:sp>
        <p:nvSpPr>
          <p:cNvPr id="73" name="TextBox 72"/>
          <p:cNvSpPr txBox="1"/>
          <p:nvPr/>
        </p:nvSpPr>
        <p:spPr>
          <a:xfrm>
            <a:off x="457200" y="1572768"/>
            <a:ext cx="8229600" cy="32461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🤖 Conversational copilot — NL + voice, English/ಕನ್ನಡ, context-aware follow-ups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✅ Grounded answers with case-ID citations (zero hallucination)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⭐ Autonomous Investigation — one query runs the whole pipeline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🗺️ Crime hotspot map (heatmap + area-label markers + predicted hotspot)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🕸️ Criminal network graph (associates · phones · vehicles · cases)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💸 Financial money-trail with mule-account detection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🏙️ Sociological insights (socio-economic correlation + demographics)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🔮 Explainable forecast &amp; risk · 🔎 similar-case search · 📈 timeline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📄 One-click cited PDF investigation report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🔐 Role-based access + PII masking + audit log · 🌓 light/dark + voice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  <p:sp>
        <p:nvSpPr>
          <p:cNvPr id="79" name="Rounded Rectangle 78"/>
          <p:cNvSpPr/>
          <p:nvPr/>
        </p:nvSpPr>
        <p:spPr>
          <a:xfrm>
            <a:off x="457200" y="2331720"/>
            <a:ext cx="1417320" cy="960120"/>
          </a:xfrm>
          <a:prstGeom prst="round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Ask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(text / voice)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34514" y="2628899"/>
            <a:ext cx="36576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55637A"/>
                </a:solidFill>
                <a:latin typeface="Calibri"/>
              </a:rPr>
              <a:t>→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160270" y="2331720"/>
            <a:ext cx="1417320" cy="960120"/>
          </a:xfrm>
          <a:prstGeom prst="roundRect">
            <a:avLst/>
          </a:prstGeom>
          <a:solidFill>
            <a:srgbClr val="0D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Parse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37584" y="2628899"/>
            <a:ext cx="36576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55637A"/>
                </a:solidFill>
                <a:latin typeface="Calibri"/>
              </a:rPr>
              <a:t>→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863339" y="2331720"/>
            <a:ext cx="1417320" cy="9601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Grounded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40654" y="2628899"/>
            <a:ext cx="36576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55637A"/>
                </a:solidFill>
                <a:latin typeface="Calibri"/>
              </a:rPr>
              <a:t>→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566410" y="2331720"/>
            <a:ext cx="1417320" cy="960120"/>
          </a:xfrm>
          <a:prstGeom prst="round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Analyse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graph·geo·₹·socio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43725" y="2628899"/>
            <a:ext cx="36576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55637A"/>
                </a:solidFill>
                <a:latin typeface="Calibri"/>
              </a:rPr>
              <a:t>→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269480" y="2331720"/>
            <a:ext cx="1417320" cy="960120"/>
          </a:xfrm>
          <a:prstGeom prst="roundRect">
            <a:avLst/>
          </a:prstGeom>
          <a:solidFill>
            <a:srgbClr val="1F7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Explain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+ cited PDF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3520439"/>
            <a:ext cx="8229600" cy="8229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5637A"/>
                </a:solidFill>
                <a:latin typeface="Calibri"/>
              </a:rPr>
              <a:t>One question triggers the full pipeline autonomously. The grounded-retrieval step cites the exact case IDs used, so every downstream panel and the report are verifiable end-to-end.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  <p:pic>
        <p:nvPicPr>
          <p:cNvPr id="85" name="Picture 84" descr="01-over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55" y="1600200"/>
            <a:ext cx="2352568" cy="306324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3749039" y="1783080"/>
            <a:ext cx="4937760" cy="29260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Single-screen command centre — the actual prototype UI: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Left: conversational Investigation Copilot (text + voice)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Centre: live crime hotspot map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Right: criminal network + explainable forecast &amp; risk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Below: investigation timeline, cited evidence &amp; PDF report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Top bar: KPI strip, role switcher, EN / ಕನ್ನಡ, light / dark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Architecture diagram of the proposed solution</a:t>
            </a:r>
            <a:endParaRPr b="1" sz="1800"/>
          </a:p>
        </p:txBody>
      </p:sp>
      <p:sp>
        <p:nvSpPr>
          <p:cNvPr id="91" name="Rounded Rectangle 90"/>
          <p:cNvSpPr/>
          <p:nvPr/>
        </p:nvSpPr>
        <p:spPr>
          <a:xfrm>
            <a:off x="548640" y="1627632"/>
            <a:ext cx="8046720" cy="603504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Officer  ·  text / voice  ·  English + ಕನ್ನಡ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9120" y="2194560"/>
            <a:ext cx="36576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55637A"/>
                </a:solidFill>
                <a:latin typeface="Calibri"/>
              </a:rPr>
              <a:t>↓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48640" y="2468880"/>
            <a:ext cx="8046720" cy="603504"/>
          </a:xfrm>
          <a:prstGeom prst="round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Frontend (Catalyst Web Client Hosting):  Copilot · Map · Network · Charts · PDF · RBAC · Light/Dark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89120" y="3035808"/>
            <a:ext cx="36576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55637A"/>
                </a:solidFill>
                <a:latin typeface="Calibri"/>
              </a:rPr>
              <a:t>↓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48640" y="3310128"/>
            <a:ext cx="8046720" cy="603504"/>
          </a:xfrm>
          <a:prstGeom prst="roundRect">
            <a:avLst/>
          </a:prstGeom>
          <a:solidFill>
            <a:srgbClr val="0D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Grounded Engine (isomorphic — browser &amp; Catalyst Function):  parse → retrieve (with citations) → network · geo · forecast · finance · socio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89120" y="3877056"/>
            <a:ext cx="36576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55637A"/>
                </a:solidFill>
                <a:latin typeface="Calibri"/>
              </a:rPr>
              <a:t>↓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48640" y="4151376"/>
            <a:ext cx="8046720" cy="603504"/>
          </a:xfrm>
          <a:prstGeom prst="round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Catalyst Services:  Functions · Data Store · QuickML (LLM+RAG) · Zia AutoML · Zia Voice · SmartBrowz · Auth · Circuits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  <p:sp>
        <p:nvSpPr>
          <p:cNvPr id="97" name="TextBox 96"/>
          <p:cNvSpPr txBox="1"/>
          <p:nvPr/>
        </p:nvSpPr>
        <p:spPr>
          <a:xfrm>
            <a:off x="457200" y="1572768"/>
            <a:ext cx="3977639" cy="3200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Prototype (this build)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•  Frontend: Vanilla JS, HTML5, CSS3 (no build step)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•  Maps: Leaflet + heat + CARTO tiles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•  Graph / Charts: vis-network, Chart.js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•  PDF: jsPDF · Voice: Web Speech API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•  Engine: isomorphic JS (browser + Node)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17720" y="1572768"/>
            <a:ext cx="4023360" cy="3200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D92A6"/>
                </a:solidFill>
                <a:latin typeface="Calibri"/>
              </a:rPr>
              <a:t>Production (Catalyst by Zoho)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•  Web Client Hosting (frontend) + Serverless Functions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•  Data Store (FIR/CCTNS) + full-text search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•  QuickML — LLM + RAG (conversational AI)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•  Zia AutoML (risk/forecast) · Zia Services (voice)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F40"/>
                </a:solidFill>
                <a:latin typeface="Calibri"/>
              </a:rPr>
              <a:t>•  SmartBrowz (PDF) · Authentication (RBAC) · Circuits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  <p:sp>
        <p:nvSpPr>
          <p:cNvPr id="103" name="TextBox 102"/>
          <p:cNvSpPr txBox="1"/>
          <p:nvPr/>
        </p:nvSpPr>
        <p:spPr>
          <a:xfrm>
            <a:off x="457200" y="1572768"/>
            <a:ext cx="8229600" cy="32461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62F40"/>
                </a:solidFill>
                <a:latin typeface="Calibri"/>
              </a:rPr>
              <a:t>•  Frontend / SPA  →  </a:t>
            </a:r>
            <a:r>
              <a:rPr sz="1200" b="1">
                <a:solidFill>
                  <a:srgbClr val="0D92A6"/>
                </a:solidFill>
                <a:latin typeface="Calibri"/>
              </a:rPr>
              <a:t>Web Client Hosting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F40"/>
                </a:solidFill>
                <a:latin typeface="Calibri"/>
              </a:rPr>
              <a:t>•  Backend logic / API  →  </a:t>
            </a:r>
            <a:r>
              <a:rPr sz="1200" b="1">
                <a:solidFill>
                  <a:srgbClr val="0D92A6"/>
                </a:solidFill>
                <a:latin typeface="Calibri"/>
              </a:rPr>
              <a:t>Serverless Functions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F40"/>
                </a:solidFill>
                <a:latin typeface="Calibri"/>
              </a:rPr>
              <a:t>•  Crime database + search  →  </a:t>
            </a:r>
            <a:r>
              <a:rPr sz="1200" b="1">
                <a:solidFill>
                  <a:srgbClr val="0D92A6"/>
                </a:solidFill>
                <a:latin typeface="Calibri"/>
              </a:rPr>
              <a:t>Data Store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F40"/>
                </a:solidFill>
                <a:latin typeface="Calibri"/>
              </a:rPr>
              <a:t>•  Conversational AI + RAG  →  </a:t>
            </a:r>
            <a:r>
              <a:rPr sz="1200" b="1">
                <a:solidFill>
                  <a:srgbClr val="0D92A6"/>
                </a:solidFill>
                <a:latin typeface="Calibri"/>
              </a:rPr>
              <a:t>QuickML (LLM Serving, RAG)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F40"/>
                </a:solidFill>
                <a:latin typeface="Calibri"/>
              </a:rPr>
              <a:t>•  Risk / forecast models  →  </a:t>
            </a:r>
            <a:r>
              <a:rPr sz="1200" b="1">
                <a:solidFill>
                  <a:srgbClr val="0D92A6"/>
                </a:solidFill>
                <a:latin typeface="Calibri"/>
              </a:rPr>
              <a:t>Zia AutoML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F40"/>
                </a:solidFill>
                <a:latin typeface="Calibri"/>
              </a:rPr>
              <a:t>•  Voice (STT / TTS / translate)  →  </a:t>
            </a:r>
            <a:r>
              <a:rPr sz="1200" b="1">
                <a:solidFill>
                  <a:srgbClr val="0D92A6"/>
                </a:solidFill>
                <a:latin typeface="Calibri"/>
              </a:rPr>
              <a:t>Zia Services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F40"/>
                </a:solidFill>
                <a:latin typeface="Calibri"/>
              </a:rPr>
              <a:t>•  PDF report generation  →  </a:t>
            </a:r>
            <a:r>
              <a:rPr sz="1200" b="1">
                <a:solidFill>
                  <a:srgbClr val="0D92A6"/>
                </a:solidFill>
                <a:latin typeface="Calibri"/>
              </a:rPr>
              <a:t>SmartBrowz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F40"/>
                </a:solidFill>
                <a:latin typeface="Calibri"/>
              </a:rPr>
              <a:t>•  Login + role-based access  →  </a:t>
            </a:r>
            <a:r>
              <a:rPr sz="1200" b="1">
                <a:solidFill>
                  <a:srgbClr val="0D92A6"/>
                </a:solidFill>
                <a:latin typeface="Calibri"/>
              </a:rPr>
              <a:t>Authentication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F40"/>
                </a:solidFill>
                <a:latin typeface="Calibri"/>
              </a:rPr>
              <a:t>•  Autonomous pipeline  →  </a:t>
            </a:r>
            <a:r>
              <a:rPr sz="1200" b="1">
                <a:solidFill>
                  <a:srgbClr val="0D92A6"/>
                </a:solidFill>
                <a:latin typeface="Calibri"/>
              </a:rPr>
              <a:t>Circuits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F40"/>
                </a:solidFill>
                <a:latin typeface="Calibri"/>
              </a:rPr>
              <a:t>•  Early-warning alerts  →  </a:t>
            </a:r>
            <a:r>
              <a:rPr sz="1200" b="1">
                <a:solidFill>
                  <a:srgbClr val="0D92A6"/>
                </a:solidFill>
                <a:latin typeface="Calibri"/>
              </a:rPr>
              <a:t>Cron + Push Notifications + Mail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F40"/>
                </a:solidFill>
                <a:latin typeface="Calibri"/>
              </a:rPr>
              <a:t>•  Event-driven re-analysis  →  </a:t>
            </a:r>
            <a:r>
              <a:rPr sz="1200" b="1">
                <a:solidFill>
                  <a:srgbClr val="0D92A6"/>
                </a:solidFill>
                <a:latin typeface="Calibri"/>
              </a:rPr>
              <a:t>Signals + Event Functions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62F40"/>
                </a:solidFill>
                <a:latin typeface="Calibri"/>
              </a:rPr>
              <a:t>•  API security / throttling  →  </a:t>
            </a:r>
            <a:r>
              <a:rPr sz="1200" b="1">
                <a:solidFill>
                  <a:srgbClr val="0D92A6"/>
                </a:solidFill>
                <a:latin typeface="Calibri"/>
              </a:rPr>
              <a:t>API Gateway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  <p:sp>
        <p:nvSpPr>
          <p:cNvPr id="109" name="TextBox 108"/>
          <p:cNvSpPr txBox="1"/>
          <p:nvPr/>
        </p:nvSpPr>
        <p:spPr>
          <a:xfrm>
            <a:off x="457200" y="1572768"/>
            <a:ext cx="8229600" cy="31089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Prototype: ₹0 — runs in-browser; backend on Catalyst free credits (code KSPH26).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Pilot / Production: usage-based on Catalyst (Functions, Data Store, QuickML &amp; Zia) — no third-party licences, all first-party services.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Front-end libraries (Leaflet, vis-network, Chart.js) are open-source — no cost.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Scales with data volume and query load; no fixed infrastructure to maintain.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  <p:pic>
        <p:nvPicPr>
          <p:cNvPr id="115" name="Picture 114" descr="mont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690" y="1572768"/>
            <a:ext cx="8130618" cy="31546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Prototype Performance report/Benchmarking</a:t>
            </a:r>
            <a:endParaRPr b="1" sz="1800"/>
          </a:p>
        </p:txBody>
      </p:sp>
      <p:sp>
        <p:nvSpPr>
          <p:cNvPr id="121" name="TextBox 120"/>
          <p:cNvSpPr txBox="1"/>
          <p:nvPr/>
        </p:nvSpPr>
        <p:spPr>
          <a:xfrm>
            <a:off x="457200" y="1572768"/>
            <a:ext cx="8229600" cy="3200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Dataset: 340 cases · 70 suspects · victims, bank accounts &amp; transactions, socio-economic indicators across 12 districts (synthetic, deterministic).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Latency: queries resolve client-side in &lt;50 ms (no network round-trip); first paint &lt;1.5 s.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Reliability: seeded data → identical, reproducible demos; runs offline (except map tiles).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Trust: 100% of answers carry source case-ID citations; risk/forecast factors fully itemised.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Footprint: near-zero install — static files, no build, no API keys; isomorphic engine verified headless in Node.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sz="1500" b="1">
                <a:solidFill>
                  <a:srgbClr val="1E2761"/>
                </a:solidFill>
                <a:latin typeface="Calibri"/>
              </a:rPr>
              <a:t>Provide links to your:</a:t>
            </a:r>
            <a:endParaRPr b="1" sz="1800"/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2F6FE0"/>
                </a:solidFill>
                <a:latin typeface="Calibri"/>
              </a:rPr>
              <a:t>GitHub Public Repository:  </a:t>
            </a:r>
            <a:r>
              <a:rPr sz="1300">
                <a:solidFill>
                  <a:srgbClr val="262F40"/>
                </a:solidFill>
                <a:latin typeface="Calibri"/>
              </a:rPr>
              <a:t>https://github.com/Rahulcse79/ksp-crime-intelligence-copilot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2F6FE0"/>
                </a:solidFill>
                <a:latin typeface="Calibri"/>
              </a:rPr>
              <a:t>Demo Video Link (3 Minutes):  </a:t>
            </a:r>
            <a:r>
              <a:rPr sz="1300">
                <a:solidFill>
                  <a:srgbClr val="2F6FE0"/>
                </a:solidFill>
                <a:latin typeface="Calibri"/>
              </a:rPr>
              <a:t>https://youtu.be/JPELdK2ek-4?si=Q3h_THqVh7ePymEp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F6FE0"/>
                </a:solidFill>
                <a:latin typeface="Calibri"/>
              </a:rPr>
              <a:t>Deployed Link:  </a:t>
            </a:r>
            <a:r>
              <a:rPr sz="1200">
                <a:solidFill>
                  <a:srgbClr val="2F6FE0"/>
                </a:solidFill>
                <a:latin typeface="Calibri"/>
              </a:rPr>
              <a:t>https://ksp-crime-intelligence-copilot-60073126408.development.catalystserverless.in/app/index.html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Additional Details/Future Development (if any)</a:t>
            </a:r>
            <a:endParaRPr b="1" sz="1800"/>
          </a:p>
        </p:txBody>
      </p:sp>
      <p:sp>
        <p:nvSpPr>
          <p:cNvPr id="133" name="TextBox 132"/>
          <p:cNvSpPr txBox="1"/>
          <p:nvPr/>
        </p:nvSpPr>
        <p:spPr>
          <a:xfrm>
            <a:off x="457200" y="1572768"/>
            <a:ext cx="8229600" cy="3200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Connect real CCTNS / KSP data via Catalyst Data Store (replacing synthetic data).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QuickML LLM+RAG for full free-form &amp; Kannada query understanding; Zia AutoML models with validation metrics.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Seasonal &amp; event-based trend analysis + Cron early-warning alerts (gang / organised crime).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CCTV / ANPR / face integration, predictive patrolling, multi-state — “CrimeOS”.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62F40"/>
                </a:solidFill>
                <a:latin typeface="Calibri"/>
              </a:rPr>
              <a:t>•  Field-officer mobile app and deeper financial-intelligence workflows.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Blank slide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